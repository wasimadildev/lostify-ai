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94" r:id="rId4"/>
    <p:sldId id="340" r:id="rId5"/>
    <p:sldId id="335" r:id="rId6"/>
    <p:sldId id="343" r:id="rId7"/>
    <p:sldId id="345" r:id="rId8"/>
    <p:sldId id="344" r:id="rId9"/>
    <p:sldId id="346" r:id="rId10"/>
    <p:sldId id="347" r:id="rId11"/>
    <p:sldId id="336" r:id="rId12"/>
    <p:sldId id="300" r:id="rId13"/>
    <p:sldId id="348" r:id="rId14"/>
    <p:sldId id="332" r:id="rId15"/>
    <p:sldId id="342" r:id="rId16"/>
    <p:sldId id="334" r:id="rId17"/>
    <p:sldId id="310" r:id="rId18"/>
    <p:sldId id="311" r:id="rId19"/>
    <p:sldId id="333" r:id="rId20"/>
    <p:sldId id="318" r:id="rId21"/>
    <p:sldId id="337" r:id="rId22"/>
    <p:sldId id="29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66CC"/>
    <a:srgbClr val="FF6600"/>
    <a:srgbClr val="003300"/>
    <a:srgbClr val="3E643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0" autoAdjust="0"/>
    <p:restoredTop sz="78832" autoAdjust="0"/>
  </p:normalViewPr>
  <p:slideViewPr>
    <p:cSldViewPr snapToGrid="0">
      <p:cViewPr varScale="1">
        <p:scale>
          <a:sx n="107" d="100"/>
          <a:sy n="107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199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7DF24-C08C-49AF-8B92-55610B83320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A86A0-DBA8-49FD-AAD0-50274C88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AC7D-A66B-425E-B10F-3705503E7778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3300"/>
                </a:solidFill>
                <a:latin typeface="Linux Biolinum" panose="02000503000000000000"/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ve11.png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lum bright="26000" contrast="66000"/>
          </a:blip>
          <a:stretch>
            <a:fillRect/>
          </a:stretch>
        </p:blipFill>
        <p:spPr>
          <a:xfrm>
            <a:off x="12700" y="5902037"/>
            <a:ext cx="12161520" cy="9337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884"/>
            <a:ext cx="10515600" cy="784802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rgbClr val="003300"/>
                </a:solidFill>
                <a:latin typeface="Bell MT" panose="020205030603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0764"/>
            <a:ext cx="10515600" cy="491619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>
              <a:lnSpc>
                <a:spcPct val="150000"/>
              </a:lnSpc>
              <a:defRPr>
                <a:solidFill>
                  <a:srgbClr val="0066CC"/>
                </a:solidFill>
                <a:latin typeface="Bell MT" panose="02020503060305020303" pitchFamily="18" charset="0"/>
              </a:defRPr>
            </a:lvl2pPr>
            <a:lvl3pPr>
              <a:lnSpc>
                <a:spcPct val="150000"/>
              </a:lnSpc>
              <a:defRPr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defRPr>
            </a:lvl3pPr>
            <a:lvl4pPr>
              <a:lnSpc>
                <a:spcPct val="150000"/>
              </a:lnSpc>
              <a:defRPr>
                <a:latin typeface="Bell MT" panose="02020503060305020303" pitchFamily="18" charset="0"/>
              </a:defRPr>
            </a:lvl4pPr>
            <a:lvl5pPr>
              <a:lnSpc>
                <a:spcPct val="150000"/>
              </a:lnSpc>
              <a:defRPr>
                <a:latin typeface="Bell MT" panose="020205030603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413C3-1F92-4B9E-BCF4-17DB9FC06CAD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49236" y="6481045"/>
            <a:ext cx="7107381" cy="365125"/>
          </a:xfrm>
        </p:spPr>
        <p:txBody>
          <a:bodyPr/>
          <a:lstStyle>
            <a:lvl1pPr>
              <a:defRPr sz="1600">
                <a:solidFill>
                  <a:srgbClr val="003300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273220"/>
            <a:ext cx="2743200" cy="365125"/>
          </a:xfrm>
        </p:spPr>
        <p:txBody>
          <a:bodyPr/>
          <a:lstStyle>
            <a:lvl1pPr>
              <a:defRPr sz="16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Wave10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524657">
            <a:off x="-3282195" y="3002475"/>
            <a:ext cx="6877698" cy="839238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731029" y="1002147"/>
            <a:ext cx="1146097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>
            <a:off x="11457706" y="6256415"/>
            <a:ext cx="540325" cy="395785"/>
          </a:xfrm>
          <a:prstGeom prst="ellipse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1364500" y="6267861"/>
            <a:ext cx="0" cy="39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1509972" y="6301937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D241-93D9-4134-BABA-6E948116E498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337B0-C375-44A4-93BF-6880752877B4}" type="datetime1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003300"/>
                </a:solidFill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490B-764C-4938-8F14-036603F09A54}" type="datetime1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608F-577B-4A5E-90AD-A6A680C8FD94}" type="datetime1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B2C6-A2A9-46A3-9546-5A864E100B0A}" type="datetime1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96EF6-E7BC-4F13-BDD1-87AD37E7A57C}" type="datetime1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786AC-A1EC-463E-A5B7-87D3F9F3D474}" type="datetime1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6056-1B7C-46EB-9668-5E6B7B0FFDA6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2EAD-0C56-4103-BC60-FCCD587F7C3C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AC7D-A66B-425E-B10F-3705503E7778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3300"/>
                </a:solidFill>
                <a:latin typeface="Linux Biolinum" panose="02000503000000000000"/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ve11.png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lum bright="26000" contrast="66000"/>
          </a:blip>
          <a:stretch>
            <a:fillRect/>
          </a:stretch>
        </p:blipFill>
        <p:spPr>
          <a:xfrm>
            <a:off x="12700" y="5902037"/>
            <a:ext cx="12161520" cy="9337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884"/>
            <a:ext cx="10515600" cy="784802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rgbClr val="003300"/>
                </a:solidFill>
                <a:latin typeface="Bell MT" panose="020205030603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0764"/>
            <a:ext cx="10515600" cy="491619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>
              <a:lnSpc>
                <a:spcPct val="150000"/>
              </a:lnSpc>
              <a:defRPr>
                <a:solidFill>
                  <a:srgbClr val="0066CC"/>
                </a:solidFill>
                <a:latin typeface="Bell MT" panose="02020503060305020303" pitchFamily="18" charset="0"/>
              </a:defRPr>
            </a:lvl2pPr>
            <a:lvl3pPr>
              <a:lnSpc>
                <a:spcPct val="150000"/>
              </a:lnSpc>
              <a:defRPr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defRPr>
            </a:lvl3pPr>
            <a:lvl4pPr>
              <a:lnSpc>
                <a:spcPct val="150000"/>
              </a:lnSpc>
              <a:defRPr>
                <a:latin typeface="Bell MT" panose="02020503060305020303" pitchFamily="18" charset="0"/>
              </a:defRPr>
            </a:lvl4pPr>
            <a:lvl5pPr>
              <a:lnSpc>
                <a:spcPct val="150000"/>
              </a:lnSpc>
              <a:defRPr>
                <a:latin typeface="Bell MT" panose="020205030603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413C3-1F92-4B9E-BCF4-17DB9FC06CAD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49236" y="6481045"/>
            <a:ext cx="7107381" cy="365125"/>
          </a:xfrm>
        </p:spPr>
        <p:txBody>
          <a:bodyPr/>
          <a:lstStyle>
            <a:lvl1pPr>
              <a:defRPr sz="1600">
                <a:solidFill>
                  <a:srgbClr val="003300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273220"/>
            <a:ext cx="2743200" cy="365125"/>
          </a:xfrm>
        </p:spPr>
        <p:txBody>
          <a:bodyPr/>
          <a:lstStyle>
            <a:lvl1pPr>
              <a:defRPr sz="16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Wave10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524657">
            <a:off x="-3282195" y="3002475"/>
            <a:ext cx="6877698" cy="839238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731029" y="1002147"/>
            <a:ext cx="1146097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>
            <a:off x="11457706" y="6256415"/>
            <a:ext cx="540325" cy="395785"/>
          </a:xfrm>
          <a:prstGeom prst="ellipse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1364500" y="6267861"/>
            <a:ext cx="0" cy="39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1509972" y="6301937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D241-93D9-4134-BABA-6E948116E498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337B0-C375-44A4-93BF-6880752877B4}" type="datetime1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003300"/>
                </a:solidFill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490B-764C-4938-8F14-036603F09A54}" type="datetime1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608F-577B-4A5E-90AD-A6A680C8FD94}" type="datetime1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B2C6-A2A9-46A3-9546-5A864E100B0A}" type="datetime1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96EF6-E7BC-4F13-BDD1-87AD37E7A57C}" type="datetime1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786AC-A1EC-463E-A5B7-87D3F9F3D474}" type="datetime1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6056-1B7C-46EB-9668-5E6B7B0FFDA6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2EAD-0C56-4103-BC60-FCCD587F7C3C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C3DD3-75BF-4B32-8C48-35A375839E47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003300"/>
                </a:solidFill>
                <a:latin typeface="Linux Biolinum" panose="02000503000000000000"/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006600"/>
                </a:solidFill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C3DD3-75BF-4B32-8C48-35A375839E47}" type="datetime1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003300"/>
                </a:solidFill>
                <a:latin typeface="Linux Biolinum" panose="02000503000000000000"/>
              </a:defRPr>
            </a:lvl1pPr>
          </a:lstStyle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006600"/>
                </a:solidFill>
              </a:defRPr>
            </a:lvl1pPr>
          </a:lstStyle>
          <a:p>
            <a:fld id="{A5DBA9CD-0B3A-4025-8B39-0C1771C3B2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droid/answer/6160491" TargetMode="External"/><Relationship Id="rId7" Type="http://schemas.openxmlformats.org/officeDocument/2006/relationships/hyperlink" Target="https://docs.flutter.dev/" TargetMode="External"/><Relationship Id="rId2" Type="http://schemas.openxmlformats.org/officeDocument/2006/relationships/hyperlink" Target="https://www.missingkid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irebase.google.com/docs" TargetMode="External"/><Relationship Id="rId5" Type="http://schemas.openxmlformats.org/officeDocument/2006/relationships/hyperlink" Target="https://developers.google.com/maps/apis-by-platform" TargetMode="External"/><Relationship Id="rId4" Type="http://schemas.openxmlformats.org/officeDocument/2006/relationships/hyperlink" Target="https://petcolove.org/lost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/" TargetMode="External"/><Relationship Id="rId2" Type="http://schemas.openxmlformats.org/officeDocument/2006/relationships/hyperlink" Target="https://docs.flutter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gresql.org/docs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/>
          <p:nvPr/>
        </p:nvSpPr>
        <p:spPr>
          <a:xfrm>
            <a:off x="1652952" y="1499588"/>
            <a:ext cx="9144000" cy="1141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3300"/>
                </a:solidFill>
                <a:latin typeface="Bell MT" panose="02020503060305020303" pitchFamily="18" charset="0"/>
                <a:ea typeface="+mj-ea"/>
                <a:cs typeface="+mj-cs"/>
              </a:defRPr>
            </a:lvl1pPr>
          </a:lstStyle>
          <a:p>
            <a:r>
              <a:rPr lang="en-US" sz="4800" dirty="0"/>
              <a:t>LOSTIFY AI</a:t>
            </a:r>
            <a:endParaRPr lang="en-US" sz="4800" dirty="0">
              <a:solidFill>
                <a:srgbClr val="006600"/>
              </a:solidFill>
              <a:latin typeface="+mj-lt"/>
              <a:ea typeface="Linux Biolinum" panose="02000503000000000000" pitchFamily="2" charset="0"/>
              <a:cs typeface="+mj-lt"/>
            </a:endParaRPr>
          </a:p>
        </p:txBody>
      </p:sp>
      <p:sp>
        <p:nvSpPr>
          <p:cNvPr id="14" name="Subtitle 2"/>
          <p:cNvSpPr txBox="1"/>
          <p:nvPr/>
        </p:nvSpPr>
        <p:spPr>
          <a:xfrm>
            <a:off x="3963128" y="5011476"/>
            <a:ext cx="4265744" cy="9137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800" spc="100" dirty="0">
                <a:solidFill>
                  <a:srgbClr val="003300"/>
                </a:solidFill>
                <a:latin typeface="+mj-lt"/>
                <a:ea typeface="Linux Biolinum" panose="02000503000000000000" pitchFamily="2" charset="0"/>
                <a:cs typeface="+mj-lt"/>
              </a:rPr>
              <a:t>Supervised By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Mr.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</a:rPr>
              <a:t>Shujat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</a:rPr>
              <a:t>Hussain</a:t>
            </a:r>
            <a:endParaRPr lang="en-US" sz="2800" b="1" dirty="0">
              <a:solidFill>
                <a:schemeClr val="accent6">
                  <a:lumMod val="50000"/>
                </a:schemeClr>
              </a:solidFill>
              <a:latin typeface="+mj-lt"/>
              <a:ea typeface="Linux Biolinum" panose="02000503000000000000" pitchFamily="2" charset="0"/>
              <a:cs typeface="+mj-lt"/>
            </a:endParaRPr>
          </a:p>
          <a:p>
            <a:pPr>
              <a:lnSpc>
                <a:spcPct val="100000"/>
              </a:lnSpc>
            </a:pPr>
            <a:endParaRPr lang="en-US" sz="2800" dirty="0">
              <a:solidFill>
                <a:srgbClr val="003300"/>
              </a:solidFill>
              <a:latin typeface="+mj-lt"/>
              <a:ea typeface="Linux Biolinum" panose="02000503000000000000" pitchFamily="2" charset="0"/>
              <a:cs typeface="+mj-lt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2846797" y="2947778"/>
            <a:ext cx="6343466" cy="17570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1" spc="100" dirty="0">
                <a:latin typeface="Calibri Light" panose="020F0302020204030204" charset="0"/>
                <a:ea typeface="Linux Biolinum" panose="02000503000000000000" pitchFamily="2" charset="0"/>
                <a:cs typeface="Calibri Light" panose="020F0302020204030204" charset="0"/>
              </a:rPr>
              <a:t>Group Members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M. </a:t>
            </a:r>
            <a:r>
              <a:rPr lang="en-US" dirty="0" err="1"/>
              <a:t>Wasim</a:t>
            </a:r>
            <a:r>
              <a:rPr lang="en-US" dirty="0"/>
              <a:t> </a:t>
            </a:r>
            <a:r>
              <a:rPr lang="en-US" dirty="0" err="1"/>
              <a:t>Adil</a:t>
            </a:r>
            <a:r>
              <a:rPr lang="en-US" dirty="0"/>
              <a:t> : BSCS-23F-0129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Zobia</a:t>
            </a:r>
            <a:r>
              <a:rPr lang="en-US" dirty="0"/>
              <a:t> </a:t>
            </a:r>
            <a:r>
              <a:rPr lang="en-US" dirty="0" err="1"/>
              <a:t>Shahid</a:t>
            </a:r>
            <a:r>
              <a:rPr lang="en-US" dirty="0"/>
              <a:t> : BSCS-23F-0143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Muhammad </a:t>
            </a:r>
            <a:r>
              <a:rPr lang="en-US" dirty="0" err="1"/>
              <a:t>Qasim</a:t>
            </a:r>
            <a:r>
              <a:rPr lang="en-US" dirty="0"/>
              <a:t> : BSCS-23F-0126</a:t>
            </a:r>
            <a:endParaRPr lang="en-US" spc="100" dirty="0">
              <a:latin typeface="Calibri Light" panose="020F0302020204030204" charset="0"/>
              <a:ea typeface="Linux Biolinum" panose="02000503000000000000" pitchFamily="2" charset="0"/>
              <a:cs typeface="Calibri Light" panose="020F0302020204030204" charset="0"/>
            </a:endParaRPr>
          </a:p>
          <a:p>
            <a:pPr lvl="1" algn="l"/>
            <a:endParaRPr lang="en-US" sz="2400" spc="100" dirty="0">
              <a:latin typeface="Calibri Light" panose="020F0302020204030204" charset="0"/>
              <a:ea typeface="Linux Biolinum" panose="02000503000000000000" pitchFamily="2" charset="0"/>
              <a:cs typeface="Calibri Light" panose="020F030202020403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90977" y="3098302"/>
            <a:ext cx="2067951" cy="52461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C00000"/>
              </a:solidFill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273220"/>
            <a:ext cx="2743200" cy="365125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115" y="798286"/>
            <a:ext cx="11567886" cy="56548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96" y="206858"/>
            <a:ext cx="1006475" cy="911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692" y="378265"/>
            <a:ext cx="3495675" cy="53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9047"/>
            <a:ext cx="10515600" cy="4792889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Lostify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web-based recovery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missing persons, lost pets, and lost items.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secure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relying on scattered social media and separate services.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submit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reports with images, descriptions, and last-known locations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similarity, object detection, and OCR-based information extraction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Location-aware alerts help notify relevant users about nearby cases.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Volunteers, NGOs, police, and administrators can participate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results are suggestions only;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verification remains with authorized humans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0764"/>
            <a:ext cx="10515600" cy="5012456"/>
          </a:xfrm>
        </p:spPr>
        <p:txBody>
          <a:bodyPr>
            <a:noAutofit/>
          </a:bodyPr>
          <a:lstStyle/>
          <a:p>
            <a:pPr lvl="0"/>
            <a:r>
              <a:rPr lang="en-PK" sz="2000" dirty="0"/>
              <a:t>AI-powered platform for recovering </a:t>
            </a:r>
            <a:r>
              <a:rPr lang="en-PK" sz="2000" b="1" dirty="0"/>
              <a:t>missing persons, lost pets, and lost items</a:t>
            </a:r>
            <a:r>
              <a:rPr lang="en-PK" sz="2000" dirty="0"/>
              <a:t>. </a:t>
            </a:r>
          </a:p>
          <a:p>
            <a:pPr lvl="0"/>
            <a:r>
              <a:rPr lang="en-PK" sz="2000" dirty="0"/>
              <a:t>Users can report cases with </a:t>
            </a:r>
            <a:r>
              <a:rPr lang="en-PK" sz="2000" b="1" dirty="0"/>
              <a:t>images, descriptions, and last-known locations</a:t>
            </a:r>
            <a:r>
              <a:rPr lang="en-PK" sz="2000" dirty="0"/>
              <a:t>. </a:t>
            </a:r>
          </a:p>
          <a:p>
            <a:pPr lvl="0"/>
            <a:r>
              <a:rPr lang="en-PK" sz="2000" dirty="0"/>
              <a:t>AI detects and analyses uploaded images using </a:t>
            </a:r>
            <a:r>
              <a:rPr lang="en-PK" sz="2000" b="1" dirty="0"/>
              <a:t>Computer Vision</a:t>
            </a:r>
            <a:r>
              <a:rPr lang="en-PK" sz="2000" dirty="0"/>
              <a:t> and </a:t>
            </a:r>
            <a:r>
              <a:rPr lang="en-PK" sz="2000" b="1" dirty="0"/>
              <a:t>Deep Learning</a:t>
            </a:r>
            <a:r>
              <a:rPr lang="en-PK" sz="2000" dirty="0"/>
              <a:t>. </a:t>
            </a:r>
          </a:p>
          <a:p>
            <a:pPr lvl="0"/>
            <a:r>
              <a:rPr lang="en-PK" sz="2000" dirty="0"/>
              <a:t>The system compares reports to identify the most similar matches. </a:t>
            </a:r>
          </a:p>
          <a:p>
            <a:pPr lvl="0"/>
            <a:r>
              <a:rPr lang="en-PK" sz="2000" b="1" dirty="0"/>
              <a:t>Location-based notifications</a:t>
            </a:r>
            <a:r>
              <a:rPr lang="en-PK" sz="2000" dirty="0"/>
              <a:t> are sent to nearby users who have the Lostify AI application, increasing the chances of finding the missing person or item. </a:t>
            </a:r>
          </a:p>
          <a:p>
            <a:pPr lvl="0"/>
            <a:r>
              <a:rPr lang="en-PK" sz="2000" dirty="0"/>
              <a:t>Community members can submit </a:t>
            </a:r>
            <a:r>
              <a:rPr lang="en-PK" sz="2000" b="1" dirty="0"/>
              <a:t>verified sightings, photos, and evidence</a:t>
            </a:r>
            <a:r>
              <a:rPr lang="en-PK" sz="2000" dirty="0"/>
              <a:t>. </a:t>
            </a:r>
          </a:p>
          <a:p>
            <a:pPr lvl="0"/>
            <a:r>
              <a:rPr lang="en-PK" sz="2000" dirty="0"/>
              <a:t>AI provides similarity suggestions, while </a:t>
            </a:r>
            <a:r>
              <a:rPr lang="en-PK" sz="2000" b="1" dirty="0"/>
              <a:t>human verification</a:t>
            </a:r>
            <a:r>
              <a:rPr lang="en-PK" sz="2000" dirty="0"/>
              <a:t> confirms the final recovery.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1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5660"/>
            <a:ext cx="10515600" cy="4962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endParaRPr lang="en-US" sz="1800" dirty="0">
              <a:solidFill>
                <a:srgbClr val="0066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905E4-1E1B-0925-3509-92399D8A3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494876"/>
              </p:ext>
            </p:extLst>
          </p:nvPr>
        </p:nvGraphicFramePr>
        <p:xfrm>
          <a:off x="1238309" y="1176484"/>
          <a:ext cx="10235619" cy="488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421">
                <a:tc>
                  <a:txBody>
                    <a:bodyPr/>
                    <a:lstStyle/>
                    <a:p>
                      <a:pPr algn="ctr"/>
                      <a:r>
                        <a:rPr sz="2400" dirty="0"/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Primary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/>
                        <a:t>Main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246">
                <a:tc>
                  <a:txBody>
                    <a:bodyPr/>
                    <a:lstStyle/>
                    <a:p>
                      <a:r>
                        <a:rPr dirty="0"/>
                        <a:t>NCMEC / AMBER-style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Missing children reporting &amp; 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Focused only on missing children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972">
                <a:tc>
                  <a:txBody>
                    <a:bodyPr/>
                    <a:lstStyle/>
                    <a:p>
                      <a:r>
                        <a:rPr dirty="0"/>
                        <a:t>Google Find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Locate &amp; secure Android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Only registered Android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972">
                <a:tc>
                  <a:txBody>
                    <a:bodyPr/>
                    <a:lstStyle/>
                    <a:p>
                      <a:r>
                        <a:t>Petco Love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photo matching for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Pet recovery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972">
                <a:tc>
                  <a:txBody>
                    <a:bodyPr/>
                    <a:lstStyle/>
                    <a:p>
                      <a:r>
                        <a:t>Social Media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Community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Unstructured &amp; weak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244">
                <a:tc>
                  <a:txBody>
                    <a:bodyPr/>
                    <a:lstStyle/>
                    <a:p>
                      <a:r>
                        <a:t>Paw 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Lost pet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Pet-focused platform</a:t>
                      </a:r>
                      <a:endParaRPr lang="en-US" dirty="0"/>
                    </a:p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248">
                <a:tc>
                  <a:txBody>
                    <a:bodyPr/>
                    <a:lstStyle/>
                    <a:p>
                      <a:r>
                        <a:t>Apple Find 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Track Apple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Apple ecosystem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83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9E94-5298-97B6-F932-4313C98E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85C07-D7CC-FF8A-B7A8-FF7239225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PK" dirty="0"/>
              <a:t>Existing solutions focus on </a:t>
            </a:r>
            <a:r>
              <a:rPr lang="en-PK" b="1" dirty="0"/>
              <a:t>only one recovery category</a:t>
            </a:r>
            <a:r>
              <a:rPr lang="en-PK" dirty="0"/>
              <a:t> (missing persons, lost pets, or lost items), not all three together. </a:t>
            </a:r>
          </a:p>
          <a:p>
            <a:pPr lvl="0"/>
            <a:r>
              <a:rPr lang="en-PK" dirty="0"/>
              <a:t>No unified platform combines </a:t>
            </a:r>
            <a:r>
              <a:rPr lang="en-PK" b="1" dirty="0"/>
              <a:t>AI-assisted image matching</a:t>
            </a:r>
            <a:r>
              <a:rPr lang="en-PK" dirty="0"/>
              <a:t>, </a:t>
            </a:r>
            <a:r>
              <a:rPr lang="en-PK" b="1" dirty="0"/>
              <a:t>location-based alerts</a:t>
            </a:r>
            <a:r>
              <a:rPr lang="en-PK" dirty="0"/>
              <a:t>, and </a:t>
            </a:r>
            <a:r>
              <a:rPr lang="en-PK" b="1" dirty="0"/>
              <a:t>community reporting</a:t>
            </a:r>
            <a:r>
              <a:rPr lang="en-PK" dirty="0"/>
              <a:t> in a single system. </a:t>
            </a:r>
          </a:p>
          <a:p>
            <a:pPr lvl="0"/>
            <a:r>
              <a:rPr lang="en-PK" dirty="0"/>
              <a:t>Most platforms rely on </a:t>
            </a:r>
            <a:r>
              <a:rPr lang="en-PK" b="1" dirty="0"/>
              <a:t>basic image matching</a:t>
            </a:r>
            <a:r>
              <a:rPr lang="en-PK" dirty="0"/>
              <a:t> and do not compare multiple features such as face, clothing, objects, accessories, OCR text, and location simultaneously. </a:t>
            </a:r>
          </a:p>
          <a:p>
            <a:pPr lvl="0"/>
            <a:r>
              <a:rPr lang="en-PK" dirty="0"/>
              <a:t>Social media platforms lack </a:t>
            </a:r>
            <a:r>
              <a:rPr lang="en-PK" b="1" dirty="0"/>
              <a:t>structured reporting</a:t>
            </a:r>
            <a:r>
              <a:rPr lang="en-PK" dirty="0"/>
              <a:t>, resulting in duplicate posts, misinformation, and difficult searching. </a:t>
            </a:r>
          </a:p>
          <a:p>
            <a:pPr lvl="0"/>
            <a:r>
              <a:rPr lang="en-PK" dirty="0"/>
              <a:t>Current systems provide </a:t>
            </a:r>
            <a:r>
              <a:rPr lang="en-PK" b="1" dirty="0"/>
              <a:t>limited verification mechanisms</a:t>
            </a:r>
            <a:r>
              <a:rPr lang="en-PK" dirty="0"/>
              <a:t>, increasing the risk of false claims and fraudulent recoveries. </a:t>
            </a:r>
          </a:p>
          <a:p>
            <a:pPr lvl="0"/>
            <a:r>
              <a:rPr lang="en-PK" dirty="0"/>
              <a:t>Few platforms use </a:t>
            </a:r>
            <a:r>
              <a:rPr lang="en-PK" b="1" dirty="0"/>
              <a:t>real-time notifications</a:t>
            </a:r>
            <a:r>
              <a:rPr lang="en-PK" dirty="0"/>
              <a:t> to alert nearby users who may help locate missing persons, pets, or items. </a:t>
            </a:r>
          </a:p>
          <a:p>
            <a:pPr lvl="0"/>
            <a:r>
              <a:rPr lang="en-PK" dirty="0"/>
              <a:t>Existing solutions have </a:t>
            </a:r>
            <a:r>
              <a:rPr lang="en-PK" b="1" dirty="0"/>
              <a:t>limited cross-platform accessibility</a:t>
            </a:r>
            <a:r>
              <a:rPr lang="en-PK" dirty="0"/>
              <a:t> and often depend on a specific device or ecosystem. </a:t>
            </a:r>
          </a:p>
          <a:p>
            <a:pPr lvl="0"/>
            <a:r>
              <a:rPr lang="en-PK" dirty="0"/>
              <a:t>Most recovery systems provide </a:t>
            </a:r>
            <a:r>
              <a:rPr lang="en-PK" b="1" dirty="0"/>
              <a:t>minimal analytics</a:t>
            </a:r>
            <a:r>
              <a:rPr lang="en-PK" dirty="0"/>
              <a:t> for monitoring recovery rates, AI performance, and community participation. </a:t>
            </a:r>
          </a:p>
          <a:p>
            <a:pPr lvl="0"/>
            <a:r>
              <a:rPr lang="en-PK" dirty="0"/>
              <a:t>There is a need for a secure, scalable, AI-powered recovery platform that integrates </a:t>
            </a:r>
            <a:r>
              <a:rPr lang="en-PK" b="1" dirty="0"/>
              <a:t>Computer Vision</a:t>
            </a:r>
            <a:r>
              <a:rPr lang="en-PK" dirty="0"/>
              <a:t>, </a:t>
            </a:r>
            <a:r>
              <a:rPr lang="en-PK" b="1" dirty="0"/>
              <a:t>OCR</a:t>
            </a:r>
            <a:r>
              <a:rPr lang="en-PK" dirty="0"/>
              <a:t>, </a:t>
            </a:r>
            <a:r>
              <a:rPr lang="en-PK" b="1" dirty="0"/>
              <a:t>Feature Matching</a:t>
            </a:r>
            <a:r>
              <a:rPr lang="en-PK" dirty="0"/>
              <a:t>, </a:t>
            </a:r>
            <a:r>
              <a:rPr lang="en-PK" b="1" dirty="0"/>
              <a:t>Geospatial Intelligence</a:t>
            </a:r>
            <a:r>
              <a:rPr lang="en-PK" dirty="0"/>
              <a:t>, and </a:t>
            </a:r>
            <a:r>
              <a:rPr lang="en-PK" b="1" dirty="0"/>
              <a:t>Human Verification</a:t>
            </a:r>
            <a:r>
              <a:rPr lang="en-PK" dirty="0"/>
              <a:t> into one workflow.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72117-1D6C-80E6-5740-679B9791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8676A-9CD5-5768-DF75-84EB194D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7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3F84-5EC3-EE1E-A969-6C0D2463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dirty="0"/>
              <a:t>Missing Report Workflow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84EA8-4655-6E20-CEBD-E12B9DA0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F0A82-1E60-C171-6B8F-0DFC78B6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B83A3B-A854-3559-C77D-33BE7919686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2876" b="18462"/>
          <a:stretch>
            <a:fillRect/>
          </a:stretch>
        </p:blipFill>
        <p:spPr bwMode="auto">
          <a:xfrm>
            <a:off x="972447" y="1477622"/>
            <a:ext cx="10515600" cy="40256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3958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F593-75D8-1F00-7799-99BA068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Found Report Workflow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A4514-974B-C9B2-8853-FD2C492A1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CE9E9-DB98-2874-B616-80D06545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3B4753-7F9B-70EC-A57D-98BC0D3E0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70" y="1560916"/>
            <a:ext cx="9850055" cy="403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6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4EEE-C017-405D-7A0E-7497616B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High-Level Architecture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13B6F-274D-DA54-DA3C-58486099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50395-2F8F-E249-2A90-96DA4EC3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3D2D71-0780-C9DE-B6A7-3F21CBDE0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"/>
          <a:stretch>
            <a:fillRect/>
          </a:stretch>
        </p:blipFill>
        <p:spPr>
          <a:xfrm>
            <a:off x="1956954" y="1094511"/>
            <a:ext cx="8278091" cy="514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4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8D58-75E6-415F-82AA-CA585581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AI Module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765E4-8711-611D-C8AE-F987DBB5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F9752-CCBC-86CE-6FAC-6EE89435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2A5B7A-4D9D-C91F-F833-F589B56BD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8"/>
          <a:stretch>
            <a:fillRect/>
          </a:stretch>
        </p:blipFill>
        <p:spPr>
          <a:xfrm>
            <a:off x="1817557" y="1275182"/>
            <a:ext cx="8164643" cy="489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6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Existing Systems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355AC1-BDD1-D839-363B-8C40D4771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67493"/>
              </p:ext>
            </p:extLst>
          </p:nvPr>
        </p:nvGraphicFramePr>
        <p:xfrm>
          <a:off x="1289154" y="1289154"/>
          <a:ext cx="9623685" cy="494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7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7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7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439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Existing System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Main Limitation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Lostify AI Solution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3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NCMEC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Focused on missing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Supports people, pets &amp; items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3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Google Find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Limited to enrolled Android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Supports public lost-item reporting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3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Petco Love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Focused on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Extends matching to multiple categories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3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Social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Unstructured &amp; weak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Structured reports &amp; controlled access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3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Paw 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Pet-focused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Unified multi-category recovery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2321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Apple Find 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Apple ecosystem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Cross-platform recovery support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14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412"/>
            <a:ext cx="10515600" cy="784802"/>
          </a:xfrm>
        </p:spPr>
        <p:txBody>
          <a:bodyPr/>
          <a:lstStyle/>
          <a:p>
            <a:r>
              <a:rPr lang="en-US" b="1" dirty="0"/>
              <a:t>Major Modules</a:t>
            </a:r>
            <a:r>
              <a:rPr lang="en-US" dirty="0">
                <a:solidFill>
                  <a:schemeClr val="tx1"/>
                </a:solidFill>
                <a:sym typeface="+mn-ea"/>
              </a:rPr>
              <a:t>/</a:t>
            </a:r>
            <a:r>
              <a:rPr lang="en-US" b="1" dirty="0"/>
              <a:t>Features List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11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C246F1-824A-3549-B42C-FB7849686F97}"/>
              </a:ext>
            </a:extLst>
          </p:cNvPr>
          <p:cNvSpPr txBox="1"/>
          <p:nvPr/>
        </p:nvSpPr>
        <p:spPr>
          <a:xfrm>
            <a:off x="1476532" y="1280280"/>
            <a:ext cx="402485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1. Citizen Mobile Application</a:t>
            </a:r>
          </a:p>
          <a:p>
            <a:pPr lvl="1">
              <a:defRPr sz="1400"/>
            </a:pPr>
            <a:r>
              <a:rPr dirty="0"/>
              <a:t>• User Registration &amp; Login</a:t>
            </a:r>
          </a:p>
          <a:p>
            <a:pPr lvl="1">
              <a:defRPr sz="1400"/>
            </a:pPr>
            <a:r>
              <a:rPr dirty="0"/>
              <a:t>• Missing &amp; Found Case Reporting</a:t>
            </a:r>
          </a:p>
          <a:p>
            <a:pPr lvl="1">
              <a:defRPr sz="1400"/>
            </a:pPr>
            <a:r>
              <a:rPr dirty="0"/>
              <a:t>• Image &amp; Evidence Upload</a:t>
            </a:r>
          </a:p>
          <a:p>
            <a:pPr lvl="1">
              <a:defRPr sz="1400"/>
            </a:pPr>
            <a:r>
              <a:rPr dirty="0"/>
              <a:t>• Live Location Sharing</a:t>
            </a:r>
          </a:p>
          <a:p>
            <a:pPr lvl="1">
              <a:defRPr sz="1400"/>
            </a:pPr>
            <a:r>
              <a:rPr dirty="0"/>
              <a:t>• Nearby Alerts &amp; Notifications</a:t>
            </a:r>
          </a:p>
          <a:p>
            <a:pPr lvl="1">
              <a:defRPr sz="1400"/>
            </a:pPr>
            <a:r>
              <a:rPr dirty="0"/>
              <a:t>• Sighting Submission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12E9ED-5BDF-9215-27D8-7964D8B51DD0}"/>
              </a:ext>
            </a:extLst>
          </p:cNvPr>
          <p:cNvSpPr txBox="1"/>
          <p:nvPr/>
        </p:nvSpPr>
        <p:spPr>
          <a:xfrm>
            <a:off x="6265889" y="1284717"/>
            <a:ext cx="374903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2. AI-Assisted Matching</a:t>
            </a:r>
          </a:p>
          <a:p>
            <a:pPr lvl="1">
              <a:defRPr sz="1400"/>
            </a:pPr>
            <a:r>
              <a:rPr dirty="0"/>
              <a:t>• YOLOv11 Object Detection</a:t>
            </a:r>
          </a:p>
          <a:p>
            <a:pPr lvl="1">
              <a:defRPr sz="1400"/>
            </a:pPr>
            <a:r>
              <a:rPr dirty="0"/>
              <a:t>• </a:t>
            </a:r>
            <a:r>
              <a:rPr dirty="0" err="1"/>
              <a:t>DeepFace</a:t>
            </a:r>
            <a:r>
              <a:rPr dirty="0"/>
              <a:t> Face Recognition</a:t>
            </a:r>
          </a:p>
          <a:p>
            <a:pPr lvl="1">
              <a:defRPr sz="1400"/>
            </a:pPr>
            <a:r>
              <a:rPr dirty="0"/>
              <a:t>• CLIP/DINOv2 Feature Extraction</a:t>
            </a:r>
          </a:p>
          <a:p>
            <a:pPr lvl="1">
              <a:defRPr sz="1400"/>
            </a:pPr>
            <a:r>
              <a:rPr dirty="0"/>
              <a:t>• </a:t>
            </a:r>
            <a:r>
              <a:rPr dirty="0" err="1"/>
              <a:t>PaddleOCR</a:t>
            </a:r>
            <a:r>
              <a:rPr dirty="0"/>
              <a:t> Text Extraction</a:t>
            </a:r>
          </a:p>
          <a:p>
            <a:pPr lvl="1">
              <a:defRPr sz="1400"/>
            </a:pPr>
            <a:r>
              <a:rPr dirty="0"/>
              <a:t>• FAISS Similarity Matching</a:t>
            </a:r>
          </a:p>
          <a:p>
            <a:pPr lvl="1">
              <a:defRPr sz="1400"/>
            </a:pPr>
            <a:r>
              <a:rPr dirty="0"/>
              <a:t>• AI Confidence Scoring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6F38BD-7CDE-5266-2BBF-6BFE74A9822E}"/>
              </a:ext>
            </a:extLst>
          </p:cNvPr>
          <p:cNvSpPr txBox="1"/>
          <p:nvPr/>
        </p:nvSpPr>
        <p:spPr>
          <a:xfrm>
            <a:off x="1476532" y="3502457"/>
            <a:ext cx="3749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3. Report Verification</a:t>
            </a:r>
          </a:p>
          <a:p>
            <a:pPr lvl="1">
              <a:defRPr sz="1400"/>
            </a:pPr>
            <a:r>
              <a:rPr dirty="0"/>
              <a:t>• Duplicate Report Detection</a:t>
            </a:r>
          </a:p>
          <a:p>
            <a:pPr lvl="1">
              <a:defRPr sz="1400"/>
            </a:pPr>
            <a:r>
              <a:rPr dirty="0"/>
              <a:t>• Spam &amp; Fake Detection</a:t>
            </a:r>
          </a:p>
          <a:p>
            <a:pPr lvl="1">
              <a:defRPr sz="1400"/>
            </a:pPr>
            <a:r>
              <a:rPr dirty="0"/>
              <a:t>• Image Validation</a:t>
            </a:r>
          </a:p>
          <a:p>
            <a:pPr lvl="1">
              <a:defRPr sz="1400"/>
            </a:pPr>
            <a:r>
              <a:rPr dirty="0"/>
              <a:t>• Identity Verification</a:t>
            </a:r>
          </a:p>
          <a:p>
            <a:pPr lvl="1">
              <a:defRPr sz="1400"/>
            </a:pPr>
            <a:r>
              <a:rPr dirty="0"/>
              <a:t>• Human Verification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038A2D-68B1-770E-D0BE-D3811663B4D9}"/>
              </a:ext>
            </a:extLst>
          </p:cNvPr>
          <p:cNvSpPr txBox="1"/>
          <p:nvPr/>
        </p:nvSpPr>
        <p:spPr>
          <a:xfrm>
            <a:off x="6265889" y="3845037"/>
            <a:ext cx="374903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4. Location Intelligence</a:t>
            </a:r>
          </a:p>
          <a:p>
            <a:pPr lvl="1">
              <a:defRPr sz="1400"/>
            </a:pPr>
            <a:r>
              <a:rPr dirty="0"/>
              <a:t>• GPS Tracking</a:t>
            </a:r>
          </a:p>
          <a:p>
            <a:pPr lvl="1">
              <a:defRPr sz="1400"/>
            </a:pPr>
            <a:r>
              <a:rPr dirty="0"/>
              <a:t>• Nearby Case Detection</a:t>
            </a:r>
          </a:p>
          <a:p>
            <a:pPr lvl="1">
              <a:defRPr sz="1400"/>
            </a:pPr>
            <a:r>
              <a:rPr dirty="0"/>
              <a:t>• Geo-Fencing</a:t>
            </a:r>
          </a:p>
          <a:p>
            <a:pPr lvl="1">
              <a:defRPr sz="1400"/>
            </a:pPr>
            <a:r>
              <a:rPr dirty="0"/>
              <a:t>• Location-Based Notifications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AC25-9EAA-8DD7-A436-F11E0484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Modules</a:t>
            </a:r>
            <a:r>
              <a:rPr lang="en-US" dirty="0">
                <a:solidFill>
                  <a:schemeClr val="tx1"/>
                </a:solidFill>
                <a:sym typeface="+mn-ea"/>
              </a:rPr>
              <a:t>/</a:t>
            </a:r>
            <a:r>
              <a:rPr lang="en-US" dirty="0"/>
              <a:t>Features List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E476D-C5B5-9A31-5E07-392EB2C03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MOOC System for Quran-il-Hakeem - Ver.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CA003-29C6-AD2D-53B2-E18AAE28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40792-0613-B6FD-AE13-8EBF97CE5819}"/>
              </a:ext>
            </a:extLst>
          </p:cNvPr>
          <p:cNvSpPr txBox="1"/>
          <p:nvPr/>
        </p:nvSpPr>
        <p:spPr>
          <a:xfrm>
            <a:off x="1266668" y="1340745"/>
            <a:ext cx="374903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5. Community Collaboration</a:t>
            </a:r>
          </a:p>
          <a:p>
            <a:pPr lvl="1">
              <a:defRPr sz="1400"/>
            </a:pPr>
            <a:r>
              <a:rPr dirty="0"/>
              <a:t>• Submit Sightings</a:t>
            </a:r>
          </a:p>
          <a:p>
            <a:pPr lvl="1">
              <a:defRPr sz="1400"/>
            </a:pPr>
            <a:r>
              <a:rPr dirty="0"/>
              <a:t>• Upload Photos &amp; Evidence</a:t>
            </a:r>
          </a:p>
          <a:p>
            <a:pPr lvl="1">
              <a:defRPr sz="1400"/>
            </a:pPr>
            <a:r>
              <a:rPr dirty="0"/>
              <a:t>• Community Feedback</a:t>
            </a:r>
          </a:p>
          <a:p>
            <a:pPr lvl="1">
              <a:defRPr sz="1400"/>
            </a:pPr>
            <a:r>
              <a:rPr dirty="0"/>
              <a:t>• Volunteer Participation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4BBA7-C5E6-C7DA-289B-33A54517E7CD}"/>
              </a:ext>
            </a:extLst>
          </p:cNvPr>
          <p:cNvSpPr txBox="1"/>
          <p:nvPr/>
        </p:nvSpPr>
        <p:spPr>
          <a:xfrm>
            <a:off x="6233161" y="1407326"/>
            <a:ext cx="374903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6. Partner &amp; Admin Portal</a:t>
            </a:r>
          </a:p>
          <a:p>
            <a:pPr lvl="1">
              <a:defRPr sz="1400"/>
            </a:pPr>
            <a:r>
              <a:rPr dirty="0"/>
              <a:t>• Case Review &amp; Verification</a:t>
            </a:r>
          </a:p>
          <a:p>
            <a:pPr lvl="1">
              <a:defRPr sz="1400"/>
            </a:pPr>
            <a:r>
              <a:rPr dirty="0"/>
              <a:t>• User &amp; Role Management</a:t>
            </a:r>
          </a:p>
          <a:p>
            <a:pPr lvl="1">
              <a:defRPr sz="1400"/>
            </a:pPr>
            <a:r>
              <a:rPr dirty="0"/>
              <a:t>• AI Match Monitoring</a:t>
            </a:r>
          </a:p>
          <a:p>
            <a:pPr lvl="1">
              <a:defRPr sz="1400"/>
            </a:pPr>
            <a:r>
              <a:rPr dirty="0"/>
              <a:t>• Recovery Analytics</a:t>
            </a:r>
          </a:p>
          <a:p>
            <a:pPr lvl="1">
              <a:defRPr sz="1400"/>
            </a:pPr>
            <a:r>
              <a:rPr dirty="0"/>
              <a:t>• Dashboard &amp; Reports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57E7E-9F94-8C70-D37B-C4C00F61BE03}"/>
              </a:ext>
            </a:extLst>
          </p:cNvPr>
          <p:cNvSpPr txBox="1"/>
          <p:nvPr/>
        </p:nvSpPr>
        <p:spPr>
          <a:xfrm>
            <a:off x="1266669" y="3724738"/>
            <a:ext cx="374903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7. Security &amp; Communication</a:t>
            </a:r>
          </a:p>
          <a:p>
            <a:pPr lvl="1">
              <a:defRPr sz="1400"/>
            </a:pPr>
            <a:r>
              <a:rPr dirty="0"/>
              <a:t>• Role-Based Access Control</a:t>
            </a:r>
          </a:p>
          <a:p>
            <a:pPr lvl="1">
              <a:defRPr sz="1400"/>
            </a:pPr>
            <a:r>
              <a:rPr dirty="0"/>
              <a:t>• Secure Data Storage</a:t>
            </a:r>
          </a:p>
          <a:p>
            <a:pPr lvl="1">
              <a:defRPr sz="1400"/>
            </a:pPr>
            <a:r>
              <a:rPr dirty="0"/>
              <a:t>• Push Notifications</a:t>
            </a:r>
          </a:p>
          <a:p>
            <a:pPr lvl="1">
              <a:defRPr sz="1400"/>
            </a:pPr>
            <a:r>
              <a:rPr dirty="0"/>
              <a:t>• Email &amp; SMS Alerts</a:t>
            </a:r>
          </a:p>
          <a:p>
            <a:pPr lvl="1">
              <a:defRPr sz="1400"/>
            </a:pPr>
            <a:r>
              <a:rPr dirty="0"/>
              <a:t>• Audit Logs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11E18-4FA0-5349-A87B-09927D29B86C}"/>
              </a:ext>
            </a:extLst>
          </p:cNvPr>
          <p:cNvSpPr txBox="1"/>
          <p:nvPr/>
        </p:nvSpPr>
        <p:spPr>
          <a:xfrm>
            <a:off x="6446519" y="3724738"/>
            <a:ext cx="374903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8. Recovery Management</a:t>
            </a:r>
          </a:p>
          <a:p>
            <a:pPr lvl="1">
              <a:defRPr sz="1400"/>
            </a:pPr>
            <a:r>
              <a:rPr dirty="0"/>
              <a:t>• Owner Verification</a:t>
            </a:r>
          </a:p>
          <a:p>
            <a:pPr lvl="1">
              <a:defRPr sz="1400"/>
            </a:pPr>
            <a:r>
              <a:rPr dirty="0"/>
              <a:t>• Secure Handover</a:t>
            </a:r>
          </a:p>
          <a:p>
            <a:pPr lvl="1">
              <a:defRPr sz="1400"/>
            </a:pPr>
            <a:r>
              <a:rPr dirty="0"/>
              <a:t>• Case Closure</a:t>
            </a:r>
          </a:p>
          <a:p>
            <a:pPr lvl="1">
              <a:defRPr sz="1400"/>
            </a:pPr>
            <a:r>
              <a:rPr dirty="0"/>
              <a:t>• Recovery History</a:t>
            </a:r>
          </a:p>
          <a:p>
            <a:pPr lvl="1">
              <a:defRPr sz="1400"/>
            </a:pPr>
            <a:r>
              <a:rPr dirty="0"/>
              <a:t>• Recovery Reports</a:t>
            </a:r>
          </a:p>
        </p:txBody>
      </p:sp>
    </p:spTree>
    <p:extLst>
      <p:ext uri="{BB962C8B-B14F-4D97-AF65-F5344CB8AC3E}">
        <p14:creationId xmlns:p14="http://schemas.microsoft.com/office/powerpoint/2010/main" val="397081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Citizens / Families / Owners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Create reports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Provide accurate information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Receive updates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Confirm recovery </a:t>
            </a:r>
          </a:p>
          <a:p>
            <a:r>
              <a:rPr lang="en-US" sz="2000" b="1" dirty="0"/>
              <a:t>Volunteers / Community Members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View approved nearby cases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Submit sightings and tips </a:t>
            </a:r>
          </a:p>
          <a:p>
            <a:endParaRPr lang="en-US" sz="2000" b="1" dirty="0"/>
          </a:p>
          <a:p>
            <a:endParaRPr lang="en-US" sz="2000" b="1" dirty="0"/>
          </a:p>
          <a:p>
            <a:pPr marL="457200" lvl="1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2000" dirty="0">
                <a:solidFill>
                  <a:schemeClr val="tx1"/>
                </a:solidFill>
              </a:rPr>
              <a:t>Review authorized cases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Contribute recovery information </a:t>
            </a:r>
          </a:p>
          <a:p>
            <a:r>
              <a:rPr lang="en-US" sz="2000" b="1" dirty="0"/>
              <a:t>System Administrators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Manage users and roles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Moderate cases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Manage broadcasts and audit records </a:t>
            </a:r>
          </a:p>
          <a:p>
            <a:r>
              <a:rPr lang="en-US" sz="2000" b="1" dirty="0"/>
              <a:t>Project Supervisor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Reviews project scope, ethics, progress, and deliverables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07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Potential Business Model:</a:t>
            </a:r>
            <a:endParaRPr lang="en-US" dirty="0"/>
          </a:p>
          <a:p>
            <a:pPr lvl="1"/>
            <a:r>
              <a:rPr lang="en-US" b="1" dirty="0">
                <a:solidFill>
                  <a:schemeClr val="tx1"/>
                </a:solidFill>
              </a:rPr>
              <a:t>Freemium Access:</a:t>
            </a:r>
            <a:r>
              <a:rPr lang="en-US" dirty="0">
                <a:solidFill>
                  <a:schemeClr val="tx1"/>
                </a:solidFill>
              </a:rPr>
              <a:t> Basic reporting and recovery services remain free. 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Partner Organizations:</a:t>
            </a:r>
            <a:r>
              <a:rPr lang="en-US" dirty="0">
                <a:solidFill>
                  <a:schemeClr val="tx1"/>
                </a:solidFill>
              </a:rPr>
              <a:t> NGOs and shelters can use advanced management features. 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Premium Services:</a:t>
            </a:r>
            <a:r>
              <a:rPr lang="en-US" dirty="0">
                <a:solidFill>
                  <a:schemeClr val="tx1"/>
                </a:solidFill>
              </a:rPr>
              <a:t> Optional enhanced features for organizations and businesses. 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Institutional Partnerships:</a:t>
            </a:r>
            <a:r>
              <a:rPr lang="en-US" dirty="0">
                <a:solidFill>
                  <a:schemeClr val="tx1"/>
                </a:solidFill>
              </a:rPr>
              <a:t> Collaboration with authorized organizations and public safety bodies. 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Corporate Sponsorships:</a:t>
            </a:r>
            <a:r>
              <a:rPr lang="en-US" dirty="0">
                <a:solidFill>
                  <a:schemeClr val="tx1"/>
                </a:solidFill>
              </a:rPr>
              <a:t> Support from companies interested in social-impact initiatives. 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Future Expansion:</a:t>
            </a:r>
            <a:r>
              <a:rPr lang="en-US" dirty="0">
                <a:solidFill>
                  <a:schemeClr val="tx1"/>
                </a:solidFill>
              </a:rPr>
              <a:t> Analytics and advanced tools for authorized partner organizations</a:t>
            </a:r>
            <a:r>
              <a:rPr lang="en-US" dirty="0"/>
              <a:t>. </a:t>
            </a:r>
          </a:p>
          <a:p>
            <a:r>
              <a:rPr lang="en-US" b="1" dirty="0"/>
              <a:t>Social Impact Focus:</a:t>
            </a:r>
            <a:br>
              <a:rPr lang="en-US" dirty="0"/>
            </a:br>
            <a:r>
              <a:rPr lang="en-US" dirty="0"/>
              <a:t>The primary goal is to </a:t>
            </a:r>
            <a:r>
              <a:rPr lang="en-US" b="1" dirty="0"/>
              <a:t>improve recovery outcomes and public safety</a:t>
            </a:r>
            <a:r>
              <a:rPr lang="en-US" dirty="0"/>
              <a:t>, not to commercialize emergency assistance.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 dirty="0"/>
              <a:t>Tools and Technologies</a:t>
            </a:r>
            <a:endParaRPr lang="en-US" b="1" dirty="0"/>
          </a:p>
        </p:txBody>
      </p:sp>
      <p:sp>
        <p:nvSpPr>
          <p:cNvPr id="6" name="Text Box 5"/>
          <p:cNvSpPr txBox="1"/>
          <p:nvPr/>
        </p:nvSpPr>
        <p:spPr>
          <a:xfrm>
            <a:off x="5569585" y="6400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19087E-6229-B1AF-6346-4E4F2785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5917"/>
              </p:ext>
            </p:extLst>
          </p:nvPr>
        </p:nvGraphicFramePr>
        <p:xfrm>
          <a:off x="1396582" y="1204459"/>
          <a:ext cx="9398835" cy="4865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929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Tools / Technologies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Purpose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Mobile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Flutter, Dart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Cross-platform Android &amp; iOS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Web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 err="1"/>
                        <a:t>React.js</a:t>
                      </a:r>
                      <a:r>
                        <a:rPr dirty="0"/>
                        <a:t>, 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Admin dashboard &amp; case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Node.js, Express.js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REST APIs &amp; business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PostgreSQL, PostGIS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Users, reports &amp; geospatial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AI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Python, FastAPI, 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AI models &amp; inference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Computer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OpenCV, YOLOv11, DeepFace (ArcFace), Florence-2, DINOv2/CLIP, PaddleOCR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Detection, recognition, feature extraction &amp; 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Maps &amp; 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Google Maps Platform, Firebase Cloud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Maps &amp; real-time notifications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74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JWT, BCrypt, HTTPS, OWASP ASVS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Authentication &amp; application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Impact on Society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Faster Recovery:</a:t>
            </a:r>
            <a:r>
              <a:rPr lang="en-US" dirty="0"/>
              <a:t> Reduces the time required to circulate missing and lost cases.</a:t>
            </a:r>
          </a:p>
          <a:p>
            <a:r>
              <a:rPr lang="en-US" b="1" dirty="0"/>
              <a:t>Centralized Reporting: </a:t>
            </a:r>
            <a:r>
              <a:rPr lang="en-US" dirty="0"/>
              <a:t>Provides one platform for multiple recovery categories.</a:t>
            </a:r>
          </a:p>
          <a:p>
            <a:r>
              <a:rPr lang="en-US" b="1" dirty="0"/>
              <a:t>Community Participation: </a:t>
            </a:r>
            <a:r>
              <a:rPr lang="en-US" dirty="0"/>
              <a:t>Enables volunteers and citizens to contribute useful sightings.</a:t>
            </a:r>
          </a:p>
          <a:p>
            <a:r>
              <a:rPr lang="en-US" b="1" dirty="0"/>
              <a:t>Improved Accuracy: </a:t>
            </a:r>
            <a:r>
              <a:rPr lang="en-US" dirty="0"/>
              <a:t>AI helps identify possible matches and reduce manual search effort.</a:t>
            </a:r>
          </a:p>
          <a:p>
            <a:r>
              <a:rPr lang="en-US" b="1" dirty="0"/>
              <a:t>Better Coordination: </a:t>
            </a:r>
            <a:r>
              <a:rPr lang="en-US" dirty="0"/>
              <a:t>Connects citizens, volunteers, NGOs, and authorized organizations.</a:t>
            </a:r>
          </a:p>
          <a:p>
            <a:r>
              <a:rPr lang="en-US" b="1" dirty="0"/>
              <a:t>Enhanced Trust</a:t>
            </a:r>
            <a:r>
              <a:rPr lang="en-US" dirty="0"/>
              <a:t>: Secure verification, evidence management, and audit logs reduce false claims.</a:t>
            </a:r>
          </a:p>
          <a:p>
            <a:r>
              <a:rPr lang="en-US" b="1" dirty="0"/>
              <a:t>Public Safety: </a:t>
            </a:r>
            <a:r>
              <a:rPr lang="en-US" dirty="0"/>
              <a:t>Supports faster information sharing while maintaining human oversight.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Limitations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prototype will not directly connect to live police, hospital, shelter, or telecom databases without approval.</a:t>
            </a:r>
          </a:p>
          <a:p>
            <a:r>
              <a:rPr lang="en-US" dirty="0"/>
              <a:t>AI similarity and OCR results may be inaccurate and require human review.</a:t>
            </a:r>
          </a:p>
          <a:p>
            <a:r>
              <a:rPr lang="en-US" dirty="0"/>
              <a:t>Real-time tracking will not be provided without explicit user consent.</a:t>
            </a:r>
          </a:p>
          <a:p>
            <a:r>
              <a:rPr lang="en-US" dirty="0"/>
              <a:t>Emergency cases must still be reported through official emergency channels.</a:t>
            </a:r>
          </a:p>
          <a:p>
            <a:r>
              <a:rPr lang="en-US" dirty="0"/>
              <a:t>Sensitive and biometric data requires consent, restricted access, and secure storage.</a:t>
            </a:r>
          </a:p>
          <a:p>
            <a:r>
              <a:rPr lang="en-US" dirty="0"/>
              <a:t>Location alerts depend on device permissions, internet connectivity, and location accuracy.</a:t>
            </a:r>
          </a:p>
          <a:p>
            <a:r>
              <a:rPr lang="en-US" dirty="0"/>
              <a:t>The FYP prototype will primarily use test/dummy data.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45126" y="1225766"/>
            <a:ext cx="10515600" cy="49161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[1] National Center for Missing &amp; Exploited Children. “Missing Children Resources.” Internet: </a:t>
            </a:r>
            <a:r>
              <a:rPr lang="en-US" sz="8000" u="sng" dirty="0">
                <a:hlinkClick r:id="rId2"/>
              </a:rPr>
              <a:t>https://www.missingkids.org/</a:t>
            </a:r>
            <a:r>
              <a:rPr lang="en-US" sz="8000" dirty="0"/>
              <a:t> [Jul. 13, 2026].</a:t>
            </a:r>
          </a:p>
          <a:p>
            <a:pPr marL="0" indent="0">
              <a:buNone/>
            </a:pPr>
            <a:r>
              <a:rPr lang="en-US" sz="8000" dirty="0"/>
              <a:t>[2] Google. “Find, Secure, or Erase a Lost Android Device.” Internet: </a:t>
            </a:r>
            <a:r>
              <a:rPr lang="en-US" sz="8000" u="sng" dirty="0">
                <a:hlinkClick r:id="rId3"/>
              </a:rPr>
              <a:t>https://support.google.com/android/answer/6160491</a:t>
            </a:r>
            <a:r>
              <a:rPr lang="en-US" sz="8000" dirty="0"/>
              <a:t> [Jul. 13, 2026].</a:t>
            </a:r>
          </a:p>
          <a:p>
            <a:pPr marL="0" indent="0">
              <a:buNone/>
            </a:pPr>
            <a:r>
              <a:rPr lang="en-US" sz="8000" dirty="0"/>
              <a:t>[3] Petco Love. “Petco Love Lost: Report and Search Lost and Found Pets.” Internet: </a:t>
            </a:r>
            <a:r>
              <a:rPr lang="en-US" sz="8000" u="sng" dirty="0">
                <a:hlinkClick r:id="rId4"/>
              </a:rPr>
              <a:t>https://petcolove.org/lost/</a:t>
            </a:r>
            <a:r>
              <a:rPr lang="en-US" sz="8000" dirty="0"/>
              <a:t> [Jul. 13, 2026].</a:t>
            </a:r>
          </a:p>
          <a:p>
            <a:pPr marL="0" indent="0">
              <a:buNone/>
            </a:pPr>
            <a:r>
              <a:rPr lang="en-US" sz="8000" dirty="0"/>
              <a:t>[4] Google. “Google Maps Platform Documentation.” Internet: </a:t>
            </a:r>
            <a:r>
              <a:rPr lang="en-US" sz="8000" u="sng" dirty="0">
                <a:hlinkClick r:id="rId5"/>
              </a:rPr>
              <a:t>https://developers.google.com/maps/apis-by-platform</a:t>
            </a:r>
            <a:r>
              <a:rPr lang="en-US" sz="8000" dirty="0"/>
              <a:t> [Jul. 13, 2026].</a:t>
            </a:r>
          </a:p>
          <a:p>
            <a:pPr marL="0" indent="0">
              <a:buNone/>
            </a:pPr>
            <a:r>
              <a:rPr lang="en-US" sz="8000" dirty="0"/>
              <a:t>[5] Google. “Firebase Documentation.” Internet: </a:t>
            </a:r>
            <a:r>
              <a:rPr lang="en-US" sz="8000" u="sng" dirty="0">
                <a:hlinkClick r:id="rId6"/>
              </a:rPr>
              <a:t>https://firebase.google.com/docs</a:t>
            </a:r>
            <a:r>
              <a:rPr lang="en-US" sz="8000" dirty="0"/>
              <a:t> [Jul. 13, 2026].</a:t>
            </a:r>
          </a:p>
          <a:p>
            <a:pPr marL="0" indent="0">
              <a:buNone/>
            </a:pPr>
            <a:r>
              <a:rPr lang="en-US" sz="8000" dirty="0"/>
              <a:t>[6] Flutter. “Flutter Documentation.” Internet: </a:t>
            </a:r>
            <a:r>
              <a:rPr lang="en-US" sz="8000" u="sng" dirty="0">
                <a:hlinkClick r:id="rId7"/>
              </a:rPr>
              <a:t>https://docs.flutter.dev/</a:t>
            </a:r>
            <a:r>
              <a:rPr lang="en-US" sz="8000" dirty="0"/>
              <a:t> [Jul. 13, 2026].</a:t>
            </a:r>
          </a:p>
          <a:p>
            <a:pPr marL="0" indent="0">
              <a:buNone/>
            </a:pPr>
            <a:endParaRPr lang="en-US" sz="7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[6] Flutter. “Flutter Documentation.” Internet: </a:t>
            </a:r>
            <a:r>
              <a:rPr lang="en-US" sz="2000" u="sng" dirty="0">
                <a:hlinkClick r:id="rId2"/>
              </a:rPr>
              <a:t>https://docs.flutter.dev/</a:t>
            </a:r>
            <a:r>
              <a:rPr lang="en-US" sz="2000" dirty="0"/>
              <a:t> [Jul. 13, 2026].</a:t>
            </a:r>
          </a:p>
          <a:p>
            <a:pPr marL="0" indent="0">
              <a:buNone/>
            </a:pPr>
            <a:r>
              <a:rPr lang="en-US" sz="2000" dirty="0"/>
              <a:t>[7] Node.js. “Node.js Documentation.” Internet: </a:t>
            </a:r>
            <a:r>
              <a:rPr lang="en-US" sz="2000" u="sng" dirty="0">
                <a:hlinkClick r:id="rId3"/>
              </a:rPr>
              <a:t>https://nodejs.org/en/docs/</a:t>
            </a:r>
            <a:r>
              <a:rPr lang="en-US" sz="2000" dirty="0"/>
              <a:t> [Jul. 13, 2026].</a:t>
            </a:r>
          </a:p>
          <a:p>
            <a:pPr marL="0" indent="0">
              <a:buNone/>
            </a:pPr>
            <a:r>
              <a:rPr lang="en-US" sz="2000" dirty="0"/>
              <a:t>[8] </a:t>
            </a:r>
            <a:r>
              <a:rPr lang="en-US" sz="2000" dirty="0" err="1"/>
              <a:t>PostgreSQL</a:t>
            </a:r>
            <a:r>
              <a:rPr lang="en-US" sz="2000" dirty="0"/>
              <a:t> Global Development Group. “</a:t>
            </a:r>
            <a:r>
              <a:rPr lang="en-US" sz="2000" dirty="0" err="1"/>
              <a:t>PostgreSQL</a:t>
            </a:r>
            <a:r>
              <a:rPr lang="en-US" sz="2000" dirty="0"/>
              <a:t> Documentation.” Internet: </a:t>
            </a:r>
            <a:r>
              <a:rPr lang="en-US" sz="2000" u="sng" dirty="0">
                <a:hlinkClick r:id="rId4"/>
              </a:rPr>
              <a:t>https://www.postgresql.org/docs/</a:t>
            </a:r>
            <a:r>
              <a:rPr lang="en-US" sz="2000" dirty="0"/>
              <a:t> [Jul. 13, 2026].</a:t>
            </a:r>
          </a:p>
        </p:txBody>
      </p:sp>
    </p:spTree>
    <p:extLst>
      <p:ext uri="{BB962C8B-B14F-4D97-AF65-F5344CB8AC3E}">
        <p14:creationId xmlns:p14="http://schemas.microsoft.com/office/powerpoint/2010/main" val="58848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LOSTIFY AI</a:t>
            </a:r>
            <a:endParaRPr lang="en-US" dirty="0">
              <a:solidFill>
                <a:srgbClr val="006600"/>
              </a:solidFill>
              <a:cs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A9CD-0B3A-4025-8B39-0C1771C3B21E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itle 3"/>
          <p:cNvSpPr>
            <a:spLocks noGrp="1"/>
          </p:cNvSpPr>
          <p:nvPr>
            <p:ph idx="1"/>
          </p:nvPr>
        </p:nvSpPr>
        <p:spPr>
          <a:xfrm>
            <a:off x="838200" y="1260475"/>
            <a:ext cx="10515600" cy="4916488"/>
          </a:xfrm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003300"/>
              </a:solidFill>
              <a:latin typeface="Bell MT" panose="020205030603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4800" b="1" dirty="0">
              <a:solidFill>
                <a:srgbClr val="003300"/>
              </a:solidFill>
              <a:latin typeface="Bell MT" panose="02020503060305020303" pitchFamily="18" charset="0"/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003300"/>
                </a:solidFill>
                <a:latin typeface="Bell MT" panose="02020503060305020303" pitchFamily="18" charset="0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1" y="754743"/>
            <a:ext cx="11582400" cy="711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1126</TotalTime>
  <Words>1599</Words>
  <Application>Microsoft Macintosh PowerPoint</Application>
  <PresentationFormat>Widescreen</PresentationFormat>
  <Paragraphs>269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Bell MT</vt:lpstr>
      <vt:lpstr>Calibri</vt:lpstr>
      <vt:lpstr>Calibri Light</vt:lpstr>
      <vt:lpstr>Linux Biolinum</vt:lpstr>
      <vt:lpstr>Linux Libertine</vt:lpstr>
      <vt:lpstr>Times New Roman</vt:lpstr>
      <vt:lpstr>Office Theme</vt:lpstr>
      <vt:lpstr>1_Office Theme</vt:lpstr>
      <vt:lpstr>PowerPoint Presentation</vt:lpstr>
      <vt:lpstr>Abstract</vt:lpstr>
      <vt:lpstr>Introduction</vt:lpstr>
      <vt:lpstr>Literature Review</vt:lpstr>
      <vt:lpstr>Research Gap</vt:lpstr>
      <vt:lpstr>Missing Report Workflow</vt:lpstr>
      <vt:lpstr>Found Report Workflow</vt:lpstr>
      <vt:lpstr>High-Level Architecture </vt:lpstr>
      <vt:lpstr>AI Module Architecture</vt:lpstr>
      <vt:lpstr>Comparison with Existing Systems</vt:lpstr>
      <vt:lpstr>Major Modules/Features List</vt:lpstr>
      <vt:lpstr>Major Modules/Features List</vt:lpstr>
      <vt:lpstr>Stakeholders</vt:lpstr>
      <vt:lpstr>Stakeholders</vt:lpstr>
      <vt:lpstr>Business Model</vt:lpstr>
      <vt:lpstr>Tools and Technologies</vt:lpstr>
      <vt:lpstr>Potential Impact on Society</vt:lpstr>
      <vt:lpstr>System Limitations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Abdul Basit Uppal</dc:creator>
  <cp:lastModifiedBy>MUHAMMAD WASIM ADIL</cp:lastModifiedBy>
  <cp:revision>572</cp:revision>
  <dcterms:created xsi:type="dcterms:W3CDTF">2019-09-26T06:47:00Z</dcterms:created>
  <dcterms:modified xsi:type="dcterms:W3CDTF">2026-07-29T08:34:34Z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6A1264A3C64E44A3B983480537A545DA_13</vt:lpwstr>
  </property>
  <property fmtid="{D5CDD505-2E9C-101B-9397-08002B2CF9AE}" pid="3" name="KSOProductBuildVer">
    <vt:lpwstr>1033-12.2.0.13266</vt:lpwstr>
  </property>
</Properties>
</file>